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91" r:id="rId8"/>
    <p:sldMasterId id="2147483703" r:id="rId9"/>
    <p:sldMasterId id="2147483715" r:id="rId10"/>
    <p:sldMasterId id="2147483717" r:id="rId11"/>
    <p:sldMasterId id="2147483736" r:id="rId12"/>
  </p:sldMasterIdLst>
  <p:notesMasterIdLst>
    <p:notesMasterId r:id="rId14"/>
  </p:notesMasterIdLst>
  <p:handoutMasterIdLst>
    <p:handoutMasterId r:id="rId105"/>
  </p:handoutMasterIdLst>
  <p:sldIdLst>
    <p:sldId id="462" r:id="rId13"/>
    <p:sldId id="1678" r:id="rId15"/>
    <p:sldId id="1762" r:id="rId16"/>
    <p:sldId id="1570" r:id="rId17"/>
    <p:sldId id="479" r:id="rId18"/>
    <p:sldId id="1568" r:id="rId19"/>
    <p:sldId id="1571" r:id="rId20"/>
    <p:sldId id="1761" r:id="rId21"/>
    <p:sldId id="1663" r:id="rId22"/>
    <p:sldId id="1572" r:id="rId23"/>
    <p:sldId id="1573" r:id="rId24"/>
    <p:sldId id="1664" r:id="rId25"/>
    <p:sldId id="1574" r:id="rId26"/>
    <p:sldId id="1575" r:id="rId27"/>
    <p:sldId id="1665" r:id="rId28"/>
    <p:sldId id="1576" r:id="rId29"/>
    <p:sldId id="1577" r:id="rId30"/>
    <p:sldId id="1578" r:id="rId31"/>
    <p:sldId id="1666" r:id="rId32"/>
    <p:sldId id="1579" r:id="rId33"/>
    <p:sldId id="1580" r:id="rId34"/>
    <p:sldId id="1582" r:id="rId35"/>
    <p:sldId id="1592" r:id="rId36"/>
    <p:sldId id="1593" r:id="rId37"/>
    <p:sldId id="1594" r:id="rId38"/>
    <p:sldId id="1667" r:id="rId39"/>
    <p:sldId id="1595" r:id="rId40"/>
    <p:sldId id="1668" r:id="rId41"/>
    <p:sldId id="1596" r:id="rId42"/>
    <p:sldId id="1597" r:id="rId43"/>
    <p:sldId id="1598" r:id="rId44"/>
    <p:sldId id="1669" r:id="rId45"/>
    <p:sldId id="1583" r:id="rId46"/>
    <p:sldId id="1584" r:id="rId47"/>
    <p:sldId id="1585" r:id="rId48"/>
    <p:sldId id="1670" r:id="rId49"/>
    <p:sldId id="1586" r:id="rId50"/>
    <p:sldId id="1671" r:id="rId51"/>
    <p:sldId id="1587" r:id="rId52"/>
    <p:sldId id="1588" r:id="rId53"/>
    <p:sldId id="1591" r:id="rId54"/>
    <p:sldId id="1619" r:id="rId55"/>
    <p:sldId id="1620" r:id="rId56"/>
    <p:sldId id="1672" r:id="rId57"/>
    <p:sldId id="1622" r:id="rId58"/>
    <p:sldId id="1623" r:id="rId59"/>
    <p:sldId id="1673" r:id="rId60"/>
    <p:sldId id="1604" r:id="rId61"/>
    <p:sldId id="1605" r:id="rId62"/>
    <p:sldId id="1606" r:id="rId63"/>
    <p:sldId id="1674" r:id="rId64"/>
    <p:sldId id="1607" r:id="rId65"/>
    <p:sldId id="1608" r:id="rId66"/>
    <p:sldId id="1609" r:id="rId67"/>
    <p:sldId id="1610" r:id="rId68"/>
    <p:sldId id="1675" r:id="rId69"/>
    <p:sldId id="1611" r:id="rId70"/>
    <p:sldId id="1612" r:id="rId71"/>
    <p:sldId id="1614" r:id="rId72"/>
    <p:sldId id="1615" r:id="rId73"/>
    <p:sldId id="1616" r:id="rId74"/>
    <p:sldId id="1613" r:id="rId75"/>
    <p:sldId id="1599" r:id="rId76"/>
    <p:sldId id="1600" r:id="rId77"/>
    <p:sldId id="1601" r:id="rId78"/>
    <p:sldId id="1846" r:id="rId79"/>
    <p:sldId id="1603" r:id="rId80"/>
    <p:sldId id="1624" r:id="rId81"/>
    <p:sldId id="1625" r:id="rId82"/>
    <p:sldId id="1626" r:id="rId83"/>
    <p:sldId id="1627" r:id="rId84"/>
    <p:sldId id="1867" r:id="rId85"/>
    <p:sldId id="1868" r:id="rId86"/>
    <p:sldId id="1869" r:id="rId87"/>
    <p:sldId id="1870" r:id="rId88"/>
    <p:sldId id="1871" r:id="rId89"/>
    <p:sldId id="1866" r:id="rId90"/>
    <p:sldId id="1621" r:id="rId91"/>
    <p:sldId id="1653" r:id="rId92"/>
    <p:sldId id="1654" r:id="rId93"/>
    <p:sldId id="1661" r:id="rId94"/>
    <p:sldId id="1655" r:id="rId95"/>
    <p:sldId id="1677" r:id="rId96"/>
    <p:sldId id="1656" r:id="rId97"/>
    <p:sldId id="1662" r:id="rId98"/>
    <p:sldId id="1657" r:id="rId99"/>
    <p:sldId id="1658" r:id="rId100"/>
    <p:sldId id="1659" r:id="rId101"/>
    <p:sldId id="1660" r:id="rId102"/>
    <p:sldId id="1872" r:id="rId103"/>
    <p:sldId id="264" r:id="rId104"/>
  </p:sldIdLst>
  <p:sldSz cx="12192000" cy="6858000"/>
  <p:notesSz cx="6858000" cy="9144000"/>
  <p:custDataLst>
    <p:tags r:id="rId1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21" autoAdjust="0"/>
    <p:restoredTop sz="95344" autoAdjust="0"/>
  </p:normalViewPr>
  <p:slideViewPr>
    <p:cSldViewPr snapToGrid="0" showGuides="1">
      <p:cViewPr varScale="1">
        <p:scale>
          <a:sx n="108" d="100"/>
          <a:sy n="108" d="100"/>
        </p:scale>
        <p:origin x="240" y="528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86.xml"/><Relationship Id="rId98" Type="http://schemas.openxmlformats.org/officeDocument/2006/relationships/slide" Target="slides/slide85.xml"/><Relationship Id="rId97" Type="http://schemas.openxmlformats.org/officeDocument/2006/relationships/slide" Target="slides/slide84.xml"/><Relationship Id="rId96" Type="http://schemas.openxmlformats.org/officeDocument/2006/relationships/slide" Target="slides/slide83.xml"/><Relationship Id="rId95" Type="http://schemas.openxmlformats.org/officeDocument/2006/relationships/slide" Target="slides/slide82.xml"/><Relationship Id="rId94" Type="http://schemas.openxmlformats.org/officeDocument/2006/relationships/slide" Target="slides/slide81.xml"/><Relationship Id="rId93" Type="http://schemas.openxmlformats.org/officeDocument/2006/relationships/slide" Target="slides/slide80.xml"/><Relationship Id="rId92" Type="http://schemas.openxmlformats.org/officeDocument/2006/relationships/slide" Target="slides/slide79.xml"/><Relationship Id="rId91" Type="http://schemas.openxmlformats.org/officeDocument/2006/relationships/slide" Target="slides/slide78.xml"/><Relationship Id="rId90" Type="http://schemas.openxmlformats.org/officeDocument/2006/relationships/slide" Target="slides/slide77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76.xml"/><Relationship Id="rId88" Type="http://schemas.openxmlformats.org/officeDocument/2006/relationships/slide" Target="slides/slide75.xml"/><Relationship Id="rId87" Type="http://schemas.openxmlformats.org/officeDocument/2006/relationships/slide" Target="slides/slide74.xml"/><Relationship Id="rId86" Type="http://schemas.openxmlformats.org/officeDocument/2006/relationships/slide" Target="slides/slide73.xml"/><Relationship Id="rId85" Type="http://schemas.openxmlformats.org/officeDocument/2006/relationships/slide" Target="slides/slide72.xml"/><Relationship Id="rId84" Type="http://schemas.openxmlformats.org/officeDocument/2006/relationships/slide" Target="slides/slide71.xml"/><Relationship Id="rId83" Type="http://schemas.openxmlformats.org/officeDocument/2006/relationships/slide" Target="slides/slide70.xml"/><Relationship Id="rId82" Type="http://schemas.openxmlformats.org/officeDocument/2006/relationships/slide" Target="slides/slide69.xml"/><Relationship Id="rId81" Type="http://schemas.openxmlformats.org/officeDocument/2006/relationships/slide" Target="slides/slide68.xml"/><Relationship Id="rId80" Type="http://schemas.openxmlformats.org/officeDocument/2006/relationships/slide" Target="slides/slide6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6.xml"/><Relationship Id="rId78" Type="http://schemas.openxmlformats.org/officeDocument/2006/relationships/slide" Target="slides/slide65.xml"/><Relationship Id="rId77" Type="http://schemas.openxmlformats.org/officeDocument/2006/relationships/slide" Target="slides/slide64.xml"/><Relationship Id="rId76" Type="http://schemas.openxmlformats.org/officeDocument/2006/relationships/slide" Target="slides/slide63.xml"/><Relationship Id="rId75" Type="http://schemas.openxmlformats.org/officeDocument/2006/relationships/slide" Target="slides/slide62.xml"/><Relationship Id="rId74" Type="http://schemas.openxmlformats.org/officeDocument/2006/relationships/slide" Target="slides/slide61.xml"/><Relationship Id="rId73" Type="http://schemas.openxmlformats.org/officeDocument/2006/relationships/slide" Target="slides/slide60.xml"/><Relationship Id="rId72" Type="http://schemas.openxmlformats.org/officeDocument/2006/relationships/slide" Target="slides/slide59.xml"/><Relationship Id="rId71" Type="http://schemas.openxmlformats.org/officeDocument/2006/relationships/slide" Target="slides/slide58.xml"/><Relationship Id="rId70" Type="http://schemas.openxmlformats.org/officeDocument/2006/relationships/slide" Target="slides/slide5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6.xml"/><Relationship Id="rId68" Type="http://schemas.openxmlformats.org/officeDocument/2006/relationships/slide" Target="slides/slide55.xml"/><Relationship Id="rId67" Type="http://schemas.openxmlformats.org/officeDocument/2006/relationships/slide" Target="slides/slide54.xml"/><Relationship Id="rId66" Type="http://schemas.openxmlformats.org/officeDocument/2006/relationships/slide" Target="slides/slide53.xml"/><Relationship Id="rId65" Type="http://schemas.openxmlformats.org/officeDocument/2006/relationships/slide" Target="slides/slide52.xml"/><Relationship Id="rId64" Type="http://schemas.openxmlformats.org/officeDocument/2006/relationships/slide" Target="slides/slide51.xml"/><Relationship Id="rId63" Type="http://schemas.openxmlformats.org/officeDocument/2006/relationships/slide" Target="slides/slide50.xml"/><Relationship Id="rId62" Type="http://schemas.openxmlformats.org/officeDocument/2006/relationships/slide" Target="slides/slide49.xml"/><Relationship Id="rId61" Type="http://schemas.openxmlformats.org/officeDocument/2006/relationships/slide" Target="slides/slide48.xml"/><Relationship Id="rId60" Type="http://schemas.openxmlformats.org/officeDocument/2006/relationships/slide" Target="slides/slide4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6.xml"/><Relationship Id="rId58" Type="http://schemas.openxmlformats.org/officeDocument/2006/relationships/slide" Target="slides/slide45.xml"/><Relationship Id="rId57" Type="http://schemas.openxmlformats.org/officeDocument/2006/relationships/slide" Target="slides/slide44.xml"/><Relationship Id="rId56" Type="http://schemas.openxmlformats.org/officeDocument/2006/relationships/slide" Target="slides/slide43.xml"/><Relationship Id="rId55" Type="http://schemas.openxmlformats.org/officeDocument/2006/relationships/slide" Target="slides/slide42.xml"/><Relationship Id="rId54" Type="http://schemas.openxmlformats.org/officeDocument/2006/relationships/slide" Target="slides/slide41.xml"/><Relationship Id="rId53" Type="http://schemas.openxmlformats.org/officeDocument/2006/relationships/slide" Target="slides/slide40.xml"/><Relationship Id="rId52" Type="http://schemas.openxmlformats.org/officeDocument/2006/relationships/slide" Target="slides/slide39.xml"/><Relationship Id="rId51" Type="http://schemas.openxmlformats.org/officeDocument/2006/relationships/slide" Target="slides/slide38.xml"/><Relationship Id="rId50" Type="http://schemas.openxmlformats.org/officeDocument/2006/relationships/slide" Target="slides/slide3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6.xml"/><Relationship Id="rId48" Type="http://schemas.openxmlformats.org/officeDocument/2006/relationships/slide" Target="slides/slide35.xml"/><Relationship Id="rId47" Type="http://schemas.openxmlformats.org/officeDocument/2006/relationships/slide" Target="slides/slide34.xml"/><Relationship Id="rId46" Type="http://schemas.openxmlformats.org/officeDocument/2006/relationships/slide" Target="slides/slide33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0" Type="http://schemas.openxmlformats.org/officeDocument/2006/relationships/tags" Target="tags/tag1.xml"/><Relationship Id="rId11" Type="http://schemas.openxmlformats.org/officeDocument/2006/relationships/slideMaster" Target="slideMasters/slideMaster10.xml"/><Relationship Id="rId109" Type="http://schemas.openxmlformats.org/officeDocument/2006/relationships/commentAuthors" Target="commentAuthors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handoutMaster" Target="handoutMasters/handoutMaster1.xml"/><Relationship Id="rId104" Type="http://schemas.openxmlformats.org/officeDocument/2006/relationships/slide" Target="slides/slide91.xml"/><Relationship Id="rId103" Type="http://schemas.openxmlformats.org/officeDocument/2006/relationships/slide" Target="slides/slide90.xml"/><Relationship Id="rId102" Type="http://schemas.openxmlformats.org/officeDocument/2006/relationships/slide" Target="slides/slide89.xml"/><Relationship Id="rId101" Type="http://schemas.openxmlformats.org/officeDocument/2006/relationships/slide" Target="slides/slide88.xml"/><Relationship Id="rId100" Type="http://schemas.openxmlformats.org/officeDocument/2006/relationships/slide" Target="slides/slide87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3" Type="http://schemas.openxmlformats.org/officeDocument/2006/relationships/theme" Target="../theme/theme6.xml"/><Relationship Id="rId22" Type="http://schemas.openxmlformats.org/officeDocument/2006/relationships/image" Target="../media/image6.png"/><Relationship Id="rId21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0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1" Type="http://schemas.openxmlformats.org/officeDocument/2006/relationships/image" Target="../media/image15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en-US" altLang="zh-CN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PyTorch</a:t>
            </a:r>
            <a:r>
              <a:rPr lang="zh-CN" altLang="en-US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框架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什么是</a:t>
            </a:r>
            <a:r>
              <a:rPr lang="en-US" altLang="zh-CN" dirty="0" err="1"/>
              <a:t>PyTorch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22800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一个基于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语言的深度学习框架，它将数据封装成张量（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Tensor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）来进行处理。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zh-CN" altLang="en-US"/>
              <a:t>提供了灵活且高效的工具，用于构建、训练和部署机器学习和深度学习模型。</a:t>
            </a:r>
            <a:endParaRPr lang="zh-CN" altLang="en-US"/>
          </a:p>
          <a:p>
            <a:r>
              <a:rPr lang="en-US" altLang="zh-CN"/>
              <a:t>PyTorch</a:t>
            </a:r>
            <a:r>
              <a:rPr lang="zh-CN" altLang="en-US"/>
              <a:t>广泛应用于学术研究和工业界，特别是在计算机视觉、自然语言处理、强化学习等领域。</a:t>
            </a:r>
            <a:endParaRPr lang="zh-CN" altLang="en-US"/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的安装：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pip install torch -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i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https://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pypi.tuna.tsinghua.edu.cn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/simple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" y="3058160"/>
            <a:ext cx="5927090" cy="2225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 err="1"/>
              <a:t>特点</a:t>
            </a:r>
            <a:endParaRPr dirty="0" err="1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22800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类似于</a:t>
            </a:r>
            <a:r>
              <a:rPr lang="en-US" altLang="zh-CN"/>
              <a:t>NumPy</a:t>
            </a:r>
            <a:r>
              <a:rPr lang="zh-CN" altLang="en-US"/>
              <a:t>的张量计算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自动微分</a:t>
            </a:r>
            <a:r>
              <a:rPr lang="zh-CN" altLang="en-US"/>
              <a:t>系统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深度学习库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动态计算图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GPU</a:t>
            </a:r>
            <a:r>
              <a:rPr lang="zh-CN" altLang="en-US"/>
              <a:t>加速（</a:t>
            </a:r>
            <a:r>
              <a:rPr lang="en-US" altLang="zh-CN"/>
              <a:t>CUDA</a:t>
            </a:r>
            <a:r>
              <a:rPr lang="zh-CN" altLang="en-US"/>
              <a:t>支持）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支持多种应用场景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跨平台支持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...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 err="1"/>
              <a:t>发展历史</a:t>
            </a:r>
            <a:endParaRPr dirty="0" err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2105660"/>
            <a:ext cx="8585200" cy="4538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9460" y="1457325"/>
            <a:ext cx="858520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2016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Facebook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正式发布了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的第一个版本。</a:t>
            </a:r>
            <a:endParaRPr lang="zh-CN" altLang="en-US" sz="1600"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2018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1.0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版本，标志着其正式进入生产级应用阶段。</a:t>
            </a:r>
            <a:endParaRPr lang="zh-CN" altLang="en-US" sz="1600"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609" y="1261249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知道线性和随机张量的创建方法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</a:t>
            </a:r>
            <a:r>
              <a:rPr lang="en-US" altLang="zh-CN" dirty="0">
                <a:solidFill>
                  <a:schemeClr val="tx1"/>
                </a:solidFill>
              </a:rPr>
              <a:t>0-1</a:t>
            </a:r>
            <a:r>
              <a:rPr lang="zh-CN" altLang="en-US" dirty="0">
                <a:solidFill>
                  <a:schemeClr val="tx1"/>
                </a:solidFill>
              </a:rPr>
              <a:t>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知道张量元素类型的转换方法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</a:t>
            </a:r>
            <a:r>
              <a:rPr lang="zh-CN" altLang="en-US" dirty="0"/>
              <a:t>是张量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57325"/>
            <a:ext cx="10699115" cy="4995545"/>
          </a:xfrm>
        </p:spPr>
        <p:txBody>
          <a:bodyPr/>
          <a:lstStyle/>
          <a:p>
            <a:r>
              <a:rPr lang="en-US" altLang="zh-CN" dirty="0" err="1">
                <a:solidFill>
                  <a:srgbClr val="333333"/>
                </a:solidFill>
                <a:effectLst/>
                <a:latin typeface="Helvetica Neue"/>
                <a:sym typeface="+mn-ea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中的张量就是元素为同一种数据类型的</a:t>
            </a:r>
            <a:r>
              <a:rPr lang="zh-CN" altLang="en-US" b="1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多维矩阵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。在</a:t>
            </a:r>
            <a:r>
              <a:rPr lang="en-US" altLang="zh-CN" dirty="0" err="1">
                <a:solidFill>
                  <a:srgbClr val="333333"/>
                </a:solidFill>
                <a:effectLst/>
                <a:latin typeface="Helvetica Neue"/>
                <a:sym typeface="+mn-ea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中，张量以 </a:t>
            </a:r>
            <a:r>
              <a:rPr lang="en-US" altLang="zh-CN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"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类</a:t>
            </a:r>
            <a:r>
              <a:rPr lang="en-US" altLang="zh-CN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" </a:t>
            </a:r>
            <a:r>
              <a:rPr lang="zh-CN" altLang="en-US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的形式封装起来，对张量的一些运算、处理的方法被封装在类中。</a:t>
            </a:r>
            <a:endParaRPr lang="zh-CN" altLang="en-US" dirty="0">
              <a:solidFill>
                <a:srgbClr val="333333"/>
              </a:solidFill>
              <a:effectLst/>
              <a:latin typeface="Helvetica Neue"/>
              <a:sym typeface="+mn-ea"/>
            </a:endParaRPr>
          </a:p>
          <a:p>
            <a:r>
              <a:rPr lang="en-US" altLang="zh-CN"/>
              <a:t>PyTorch</a:t>
            </a:r>
            <a:r>
              <a:rPr lang="zh-CN" altLang="en-US"/>
              <a:t>张量与</a:t>
            </a:r>
            <a:r>
              <a:rPr lang="en-US" altLang="zh-CN"/>
              <a:t>NumPy</a:t>
            </a:r>
            <a:r>
              <a:rPr lang="zh-CN" altLang="en-US"/>
              <a:t>数组类似，但</a:t>
            </a:r>
            <a:r>
              <a:rPr lang="en-US" altLang="zh-CN"/>
              <a:t>PyTorch</a:t>
            </a:r>
            <a:r>
              <a:rPr lang="zh-CN" altLang="en-US"/>
              <a:t>的张量具有</a:t>
            </a:r>
            <a:r>
              <a:rPr lang="en-US" altLang="zh-CN"/>
              <a:t>GPU</a:t>
            </a:r>
            <a:r>
              <a:rPr lang="zh-CN" altLang="en-US"/>
              <a:t>加速的能力（通过</a:t>
            </a:r>
            <a:r>
              <a:rPr lang="en-US" altLang="zh-CN"/>
              <a:t>CUDA</a:t>
            </a:r>
            <a:r>
              <a:rPr lang="zh-CN" altLang="en-US"/>
              <a:t>），这使得深度学习模型能够高效地在</a:t>
            </a:r>
            <a:r>
              <a:rPr lang="en-US" altLang="zh-CN"/>
              <a:t>GPU</a:t>
            </a:r>
            <a:r>
              <a:rPr lang="zh-CN" altLang="en-US"/>
              <a:t>上运行。</a:t>
            </a:r>
            <a:endParaRPr lang="zh-CN" altLang="en-US"/>
          </a:p>
          <a:p>
            <a:r>
              <a:rPr lang="en-US" altLang="zh-CN"/>
              <a:t>PyTorch</a:t>
            </a:r>
            <a:r>
              <a:rPr lang="zh-CN" altLang="en-US"/>
              <a:t>提供了对张量的强大支持，可以进行高效的</a:t>
            </a:r>
            <a:r>
              <a:rPr lang="zh-CN" altLang="en-US" b="1"/>
              <a:t>数值计算</a:t>
            </a:r>
            <a:r>
              <a:rPr lang="zh-CN" altLang="en-US"/>
              <a:t>、</a:t>
            </a:r>
            <a:r>
              <a:rPr lang="zh-CN" altLang="en-US" b="1"/>
              <a:t>矩阵操作</a:t>
            </a:r>
            <a:r>
              <a:rPr lang="zh-CN" altLang="en-US"/>
              <a:t>、</a:t>
            </a:r>
            <a:r>
              <a:rPr lang="zh-CN" altLang="en-US" b="1"/>
              <a:t>自动求导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/>
              <a:t>张量是</a:t>
            </a:r>
            <a:r>
              <a:rPr lang="en-US" altLang="zh-CN"/>
              <a:t> PyTorch </a:t>
            </a:r>
            <a:r>
              <a:rPr lang="zh-CN" altLang="en-US"/>
              <a:t>中的</a:t>
            </a:r>
            <a:r>
              <a:rPr lang="zh-CN" altLang="en-US" b="1"/>
              <a:t>核心数据抽象</a:t>
            </a:r>
            <a:r>
              <a:rPr lang="zh-CN" altLang="en-US"/>
              <a:t>，</a:t>
            </a:r>
            <a:r>
              <a:rPr lang="en-US" altLang="zh-CN"/>
              <a:t>PyTorch </a:t>
            </a:r>
            <a:r>
              <a:rPr lang="zh-CN" altLang="en-US"/>
              <a:t>支持各种张量子类型。通常地，一维张量称为向量</a:t>
            </a:r>
            <a:r>
              <a:rPr lang="en-US" altLang="zh-CN"/>
              <a:t>/</a:t>
            </a:r>
            <a:r>
              <a:rPr lang="zh-CN" altLang="en-US"/>
              <a:t>矢量（</a:t>
            </a:r>
            <a:r>
              <a:rPr lang="en-US" altLang="zh-CN"/>
              <a:t>vector</a:t>
            </a:r>
            <a:r>
              <a:rPr lang="zh-CN" altLang="en-US"/>
              <a:t>），二维张量称为矩阵（</a:t>
            </a:r>
            <a:r>
              <a:rPr lang="en-US" altLang="zh-CN"/>
              <a:t>matrix</a:t>
            </a:r>
            <a:r>
              <a:rPr lang="zh-CN" altLang="en-US"/>
              <a:t>）。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4320540"/>
            <a:ext cx="4503420" cy="1874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15" y="4206875"/>
            <a:ext cx="6685280" cy="1988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根据指定数据创建张量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根据形状创建张量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其也可用来创建指定数据的张量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torch.IntTensor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torch.FloatTensor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创建指定类型的张量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52945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根据指定数据创建张量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1" y="1984871"/>
            <a:ext cx="6186860" cy="43999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torch 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需要安装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模块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as np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创建张量标量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(10)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数组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由于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float64,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下面代码也使用该类型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np.random.randn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下面代码使用默认元素类型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[[10., 20., 30.], [40., 50., 60.]]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33461" y="4116467"/>
            <a:ext cx="51231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tensor(10)</a:t>
            </a:r>
            <a:endParaRPr lang="zh-CN" altLang="en-US" dirty="0"/>
          </a:p>
          <a:p>
            <a:r>
              <a:rPr lang="zh-CN" altLang="en-US" dirty="0"/>
              <a:t>tensor([[ 0.1345,  0.1149,  0.2435],</a:t>
            </a:r>
            <a:endParaRPr lang="zh-CN" altLang="en-US" dirty="0"/>
          </a:p>
          <a:p>
            <a:r>
              <a:rPr lang="zh-CN" altLang="en-US" dirty="0"/>
              <a:t>        [ 0.8026, -0.6744, -1.0918]], dtype=torch.float64)</a:t>
            </a:r>
            <a:endParaRPr lang="zh-CN" altLang="en-US" dirty="0"/>
          </a:p>
          <a:p>
            <a:r>
              <a:rPr lang="zh-CN" altLang="en-US" dirty="0"/>
              <a:t>tensor([[10., 20., 30.],</a:t>
            </a:r>
            <a:endParaRPr lang="zh-CN" altLang="en-US" dirty="0"/>
          </a:p>
          <a:p>
            <a:r>
              <a:rPr lang="zh-CN" altLang="en-US" dirty="0"/>
              <a:t>        [40., 50., 60.]])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2.torch.Tensor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根据指定形状创建张量，也可以用来创建指定数据的张量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18201" y="1942273"/>
            <a:ext cx="6186860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列的张量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默认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则创建包含指定元素的张量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([10])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([10, 20])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50054" y="5043921"/>
            <a:ext cx="51231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tensor([[0.0000e+00, 3.6893e+19, 2.2018e+05],</a:t>
            </a:r>
            <a:endParaRPr lang="en-US" altLang="zh-CN" dirty="0"/>
          </a:p>
          <a:p>
            <a:r>
              <a:rPr lang="en-US" altLang="zh-CN" dirty="0"/>
              <a:t>        [4.6577e-10, 2.4158e-12, 1.1625e+33]])</a:t>
            </a:r>
            <a:endParaRPr lang="en-US" altLang="zh-CN" dirty="0"/>
          </a:p>
          <a:p>
            <a:r>
              <a:rPr lang="en-US" altLang="zh-CN" dirty="0"/>
              <a:t>tensor([10.])</a:t>
            </a:r>
            <a:endParaRPr lang="en-US" altLang="zh-CN" dirty="0"/>
          </a:p>
          <a:p>
            <a:r>
              <a:rPr lang="en-US" altLang="zh-CN" dirty="0"/>
              <a:t>tensor([10., 20.])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torch.IntTensor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torch.FloatTensor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torch.DoubleTensor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创建指定类型的张量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51068" y="1974461"/>
            <a:ext cx="6186860" cy="382668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int32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的张量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如果传递的元素类型不正确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则会进行类型转换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([2.5, 3.3])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其他的类型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int16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int64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float32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float64</a:t>
            </a:r>
            <a:endParaRPr lang="en-US" altLang="zh-CN" sz="16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72701" y="5062486"/>
            <a:ext cx="52228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         0, 1610612736, 1213662609],</a:t>
            </a:r>
            <a:endParaRPr lang="en-US" altLang="zh-CN" dirty="0"/>
          </a:p>
          <a:p>
            <a:r>
              <a:rPr lang="en-US" altLang="zh-CN" dirty="0"/>
              <a:t>        [ 805308409,  156041223,          1]],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  <a:endParaRPr lang="en-US" altLang="zh-CN" dirty="0"/>
          </a:p>
          <a:p>
            <a:r>
              <a:rPr lang="en-US" altLang="zh-CN" dirty="0"/>
              <a:t>tensor([2, 3],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>
              <a:buClrTx/>
              <a:buSzTx/>
            </a:pPr>
            <a:r>
              <a:rPr sz="1800"/>
              <a:t>创建线性和随机张量</a:t>
            </a:r>
            <a:endParaRPr sz="18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</a:t>
            </a:r>
            <a:r>
              <a:rPr lang="en-GB" altLang="zh-CN" sz="200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arange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 和 torch.linspace() 创建线性张量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torch.random.</a:t>
            </a: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initial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_seed() 和 torch.random.manual_seed() 随机种子设置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torch.rand/randn() 创建随机浮点类型张量</a:t>
            </a:r>
            <a:endParaRPr lang="en-GB" altLang="zh-CN" sz="200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torch.randint(low, high, size=()) 创建随机整数类型张量</a:t>
            </a:r>
            <a:endParaRPr lang="en-GB" altLang="zh-CN" sz="200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torch.arange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torch.linspace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创建线性张量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52670" y="2195935"/>
            <a:ext cx="6186860" cy="2368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在指定区间按照步长生成元素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torch.arange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(0, 10, 2)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在指定区间按照元素个数生成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s]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(0, 9, 10)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2703" y="4990440"/>
            <a:ext cx="7296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tensor([0, 2, 4, 6, 8])</a:t>
            </a:r>
            <a:endParaRPr lang="en-US" altLang="zh-CN" dirty="0"/>
          </a:p>
          <a:p>
            <a:r>
              <a:rPr lang="en-US" altLang="zh-CN" dirty="0"/>
              <a:t>tensor([ 0.0000,  1.2222,  2.4444,  3.6667,  4.8889,  6.1111,  7.3333,  8.5556,</a:t>
            </a:r>
            <a:endParaRPr lang="en-US" altLang="zh-CN" dirty="0"/>
          </a:p>
          <a:p>
            <a:r>
              <a:rPr lang="en-US" altLang="zh-CN" dirty="0"/>
              <a:t>         9.7778, 11.0000])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torch.initial_seed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torch.manual_seed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随机数种子设置，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torch.randn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创建随机浮点类型张量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38970" y="2471721"/>
            <a:ext cx="6186860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创建随机张量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查看随机数种子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随机数种子设置 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torch.manual_seed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59601" y="4385066"/>
            <a:ext cx="41636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tensor([[-0.5209, -0.2439, -1.1780],</a:t>
            </a:r>
            <a:endParaRPr lang="en-US" altLang="zh-CN" dirty="0"/>
          </a:p>
          <a:p>
            <a:r>
              <a:rPr lang="en-US" altLang="zh-CN" dirty="0"/>
              <a:t>        [ 0.8133,  1.1442,  0.6790]])</a:t>
            </a:r>
            <a:endParaRPr lang="en-US" altLang="zh-CN" dirty="0"/>
          </a:p>
          <a:p>
            <a:r>
              <a:rPr lang="zh-CN" altLang="en-US" dirty="0"/>
              <a:t>随机数种子</a:t>
            </a:r>
            <a:r>
              <a:rPr lang="en-US" altLang="zh-CN" dirty="0"/>
              <a:t>: 4508475192273306739</a:t>
            </a:r>
            <a:endParaRPr lang="en-US" altLang="zh-CN" dirty="0"/>
          </a:p>
          <a:p>
            <a:r>
              <a:rPr lang="en-US" altLang="zh-CN" dirty="0"/>
              <a:t>tensor([[ 0.3607, -0.2859, -0.3938],</a:t>
            </a:r>
            <a:endParaRPr lang="en-US" altLang="zh-CN" dirty="0"/>
          </a:p>
          <a:p>
            <a:r>
              <a:rPr lang="en-US" altLang="zh-CN" dirty="0"/>
              <a:t>        [ 0.2429, -1.3833, -2.3134]])</a:t>
            </a:r>
            <a:endParaRPr lang="en-US" altLang="zh-CN" dirty="0"/>
          </a:p>
          <a:p>
            <a:r>
              <a:rPr lang="zh-CN" altLang="en-US" dirty="0"/>
              <a:t>随机数种子</a:t>
            </a:r>
            <a:r>
              <a:rPr lang="en-US" altLang="zh-CN" dirty="0"/>
              <a:t>: 100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>
                <a:sym typeface="+mn-ea"/>
              </a:rPr>
              <a:t>创建</a:t>
            </a:r>
            <a:r>
              <a:rPr lang="en-US" altLang="zh-CN">
                <a:sym typeface="+mn-ea"/>
              </a:rPr>
              <a:t>0</a:t>
            </a:r>
            <a:r>
              <a:rPr>
                <a:sym typeface="+mn-ea"/>
              </a:rPr>
              <a:t>、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torch.ones 和 torch.ones_like 创建全1张量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torch.zeros 和 torch.zeros_like 创建全0张量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torch.full 和 torch.full_like 创建全为指定值张量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zeros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torch.zeros_like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2570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28435" y="4681094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tensor([[0., 0., 0.],</a:t>
            </a:r>
            <a:endParaRPr lang="en-US" altLang="zh-CN" dirty="0"/>
          </a:p>
          <a:p>
            <a:r>
              <a:rPr lang="en-US" altLang="zh-CN" dirty="0"/>
              <a:t>        [0., 0., 0.]])</a:t>
            </a:r>
            <a:endParaRPr lang="en-US" altLang="zh-CN" dirty="0"/>
          </a:p>
          <a:p>
            <a:r>
              <a:rPr lang="en-US" altLang="zh-CN" dirty="0"/>
              <a:t>tensor([[0., 0., 0.],</a:t>
            </a:r>
            <a:endParaRPr lang="en-US" altLang="zh-CN" dirty="0"/>
          </a:p>
          <a:p>
            <a:r>
              <a:rPr lang="en-US" altLang="zh-CN" dirty="0"/>
              <a:t>        [0., 0., 0.]])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one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torch.ones_like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02294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zh-CN" altLang="en-US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02294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tensor([[1., 1., 1.],</a:t>
            </a:r>
            <a:endParaRPr lang="en-US" altLang="zh-CN" dirty="0"/>
          </a:p>
          <a:p>
            <a:r>
              <a:rPr lang="en-US" altLang="zh-CN" dirty="0"/>
              <a:t>        [1., 1., 1.]])</a:t>
            </a:r>
            <a:endParaRPr lang="en-US" altLang="zh-CN" dirty="0"/>
          </a:p>
          <a:p>
            <a:r>
              <a:rPr lang="en-US" altLang="zh-CN" dirty="0"/>
              <a:t>tensor([[1., 1., 1.],</a:t>
            </a:r>
            <a:endParaRPr lang="en-US" altLang="zh-CN" dirty="0"/>
          </a:p>
          <a:p>
            <a:r>
              <a:rPr lang="en-US" altLang="zh-CN" dirty="0"/>
              <a:t>        [1., 1., 1.]])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full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torch.full_like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创建全为指定值张量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4395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创建指定形状指定值的张量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根据张量形状创建指定值的张量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20)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4395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tensor([[10, 10, 10],</a:t>
            </a:r>
            <a:endParaRPr lang="en-US" altLang="zh-CN" dirty="0"/>
          </a:p>
          <a:p>
            <a:r>
              <a:rPr lang="en-US" altLang="zh-CN" dirty="0"/>
              <a:t>        [10, 10, 10]])</a:t>
            </a:r>
            <a:endParaRPr lang="en-US" altLang="zh-CN" dirty="0"/>
          </a:p>
          <a:p>
            <a:r>
              <a:rPr lang="en-US" altLang="zh-CN" dirty="0"/>
              <a:t>tensor([[20, 20, 20],</a:t>
            </a:r>
            <a:endParaRPr lang="en-US" altLang="zh-CN" dirty="0"/>
          </a:p>
          <a:p>
            <a:r>
              <a:rPr lang="en-US" altLang="zh-CN" dirty="0"/>
              <a:t>        [20, 20, 20]])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</a:t>
            </a:r>
            <a:r>
              <a:rPr lang="zh-CN" altLang="en-US" dirty="0"/>
              <a:t>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.type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half/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double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/float/short/int/long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data.type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torch.DoubleTensor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82977" y="1922854"/>
            <a:ext cx="6328903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data.type(dtype=torch.float16)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2977" y="5734830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torch.int64</a:t>
            </a:r>
            <a:endParaRPr lang="en-US" altLang="zh-CN" dirty="0"/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data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.half/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double/float/short/int/long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0929" y="1974461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data.double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data.short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data.int()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data.long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data.float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40929" y="5593629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torch.int64</a:t>
            </a:r>
            <a:endParaRPr lang="en-US" altLang="zh-CN" dirty="0"/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63104" y="755575"/>
            <a:ext cx="7661275" cy="603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创建张量的方式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根据指定数据创建张量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根据形状创建张量, 其也可用来创建指定数据的张量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torch.IntTensor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、torch.FloatTensor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、torch.DoubleTensor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创建指定类型的张量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创建线性和随机张量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torch.arange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torch.linspace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创建线性张量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torch.random.initial_seed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torch.random.manual_seed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随机种子设置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创建随机张量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创建0、1、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指定值张量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torch.ones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torch.ones_like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创建全1张量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torch.zeros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torch.zeros_like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创建全0张量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torch.full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torch.full_like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创建全为指定值张量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张量元素类型转换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.type(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dtype=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half/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double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/float/short/int/long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5086" y="18166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掌握张量转换为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数组转换为张量的方法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掌握标量张量和数字转换方法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457200" indent="-457200" algn="l"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Tensor.numpy 函数可以将张量转换为 ndarray 数组，但是共享内存，可以使用 copy 函数避免共享。</a:t>
            </a:r>
            <a:endParaRPr lang="en-GB" altLang="zh-CN" sz="2000" b="0" i="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85069" y="1972675"/>
            <a:ext cx="6328903" cy="406146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将张量转换为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修改其中的一个，另外一个也会发生改变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49692" y="4820448"/>
            <a:ext cx="32599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5687" y="1970010"/>
            <a:ext cx="6328903" cy="417550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对象拷贝避免共享内存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函数进行转换，通过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copy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方法拷贝对象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().copy()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此时不共享内存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修改其中的一个，另外一个不会发生改变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00310" y="4820448"/>
            <a:ext cx="35093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tensor([2, 3, 4])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from_numpy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默认共享内存，使用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copy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函数避免共享。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默认不共享内存。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from_numpy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，共享内存，使用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8091" y="1974461"/>
            <a:ext cx="6328903" cy="304609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数组转换为张量类型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torch.from_numpy(ndarray)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torch.from_numpy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nunpy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38091" y="560573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，不共享内存。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10382" y="2064000"/>
            <a:ext cx="6328903" cy="2707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torch.tensor(ndarray)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不共享内存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10382" y="491158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[2 3 4]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标量张量和数字转换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对于只有一个元素的张量，使用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item()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函数将该值从张量中提取出来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56645" y="2170064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当张量只包含一个元素时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可以通过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item()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函数提取出该值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([30,])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51707" y="4247333"/>
            <a:ext cx="49387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640195" y="1351598"/>
            <a:ext cx="6415732" cy="4154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张量转换为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</a:t>
            </a:r>
            <a:endParaRPr lang="zh-CN" altLang="en-US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().copy()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转换为张量</a:t>
            </a:r>
            <a:endParaRPr lang="zh-CN" altLang="en-US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torch.from_numpy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2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标量张量和数字转换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.item()</a:t>
            </a:r>
            <a:endParaRPr kumimoji="0" lang="en-GB" altLang="zh-CN" sz="2000" b="0" i="0" u="none" strike="noStrike" cap="none" normalizeH="0" baseline="0" dirty="0" err="1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张量数值计算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2061" y="235047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掌握张量基本运算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掌握张量点乘运算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掌握张量矩阵乘法运算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8273" y="2054572"/>
            <a:ext cx="10698800" cy="2046374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加减乘除取负号：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（其中带下划线的版本会修改原数据）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0684" y="1814044"/>
            <a:ext cx="6328903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不修改原数据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= data + 10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直接修改原数据 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带下划线的函数为修改原数据本身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+= 10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其他函数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data.sub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data.div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data.neg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53223" y="1670602"/>
            <a:ext cx="4938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tensor([[3, 7, 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[0, 0, 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tensor([[-87, -83, -86],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[-90, -90, -84]])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tensor([[1300, 1700, 1400],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[1000, 1000, 1600]])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tensor([[0.1300, 0.1700, 0.1400],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[0.1000, 0.1000, 0.1600]])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tensor([[-13, -17, -14],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[-10, -10, -16]])</a:t>
            </a:r>
            <a:endParaRPr lang="zh-CN" altLang="en-US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点乘运算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点乘指（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Hadamard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）的是相同形状的张量对应位置的元素相乘，使用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和运算符 * 实现</a:t>
            </a:r>
            <a:r>
              <a:rPr lang="zh-CN" altLang="en-US" sz="2400" b="0" i="0" dirty="0">
                <a:effectLst/>
                <a:latin typeface="Roboto" panose="02000000000000000000" pitchFamily="2" charset="0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047" y="2665152"/>
            <a:ext cx="6546044" cy="247314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点乘运算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10740" y="2051249"/>
            <a:ext cx="6328903" cy="253402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第一种方式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第二种方式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data1 * data2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05804" y="5179255"/>
            <a:ext cx="49387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2189017"/>
            <a:ext cx="10698800" cy="4093951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乘法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运算要求第一个矩阵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(n, m)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，第二个矩阵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(m, p),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两个矩阵点积运算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(n, p)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运算符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用于进行两个矩阵的乘积运算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buFont typeface="+mj-lt"/>
              <a:buAutoNum type="arabicPeriod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torch.matmul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对进行乘积运算的两矩阵形状没有限定。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于输入的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不同的张量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对应的最后几个维度必须符合矩阵运算规则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2002968"/>
            <a:ext cx="6328903" cy="285206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点积运算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4], [5, 6]])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方式一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data3 = data1 @ data2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print("data3--&gt;", data3)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data4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torch.matmul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print("data4--&gt;", data4)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91139" y="1997838"/>
            <a:ext cx="4938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data3--&gt; tensor([[19, 22],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data4--&gt; tensor([[19, 22],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  <a:endParaRPr lang="en-US" altLang="zh-CN" dirty="0">
              <a:ea typeface="阿里巴巴普惠体" panose="00020600040101010101"/>
            </a:endParaRP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  <a:endParaRPr lang="en-US" altLang="zh-CN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710215"/>
            <a:ext cx="7731240" cy="65333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张量基本运算函数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add</a:t>
            </a:r>
            <a:r>
              <a:rPr lang="zh-CN" altLang="en-US" sz="1600" dirty="0"/>
              <a:t>、</a:t>
            </a:r>
            <a:r>
              <a:rPr lang="en-US" altLang="zh-CN" sz="1600" dirty="0"/>
              <a:t>sub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zh-CN" altLang="en-US" sz="1600" dirty="0"/>
              <a:t>、</a:t>
            </a:r>
            <a:r>
              <a:rPr lang="en-US" altLang="zh-CN" sz="1600" dirty="0"/>
              <a:t>div</a:t>
            </a:r>
            <a:r>
              <a:rPr lang="zh-CN" altLang="en-US" sz="1600" dirty="0"/>
              <a:t>、</a:t>
            </a:r>
            <a:r>
              <a:rPr lang="en-US" altLang="zh-CN" sz="1600" dirty="0"/>
              <a:t>neg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 </a:t>
            </a:r>
            <a:r>
              <a:rPr lang="en-US" altLang="zh-CN" sz="1600" dirty="0"/>
              <a:t>add_</a:t>
            </a:r>
            <a:r>
              <a:rPr lang="zh-CN" altLang="en-US" sz="1600" dirty="0"/>
              <a:t>、</a:t>
            </a:r>
            <a:r>
              <a:rPr lang="en-US" altLang="zh-CN" sz="1600" dirty="0"/>
              <a:t>sub_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en-US" altLang="zh-CN" sz="1600" dirty="0"/>
              <a:t>_</a:t>
            </a:r>
            <a:r>
              <a:rPr lang="zh-CN" altLang="en-US" sz="1600" dirty="0"/>
              <a:t>、</a:t>
            </a:r>
            <a:r>
              <a:rPr lang="en-US" altLang="zh-CN" sz="1600" dirty="0"/>
              <a:t>div_</a:t>
            </a:r>
            <a:r>
              <a:rPr lang="zh-CN" altLang="en-US" sz="1600" dirty="0"/>
              <a:t>、</a:t>
            </a:r>
            <a:r>
              <a:rPr lang="en-US" altLang="zh-CN" sz="1600" dirty="0"/>
              <a:t>neg_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张量的点乘运算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mul</a:t>
            </a:r>
            <a:r>
              <a:rPr lang="zh-CN" altLang="en-US" sz="1600" dirty="0"/>
              <a:t>和运算符*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3.</a:t>
            </a:r>
            <a:r>
              <a:rPr lang="zh-CN" altLang="en-US" sz="1600" dirty="0"/>
              <a:t> 矩阵乘法运算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运算符</a:t>
            </a:r>
            <a:r>
              <a:rPr lang="en-US" altLang="zh-CN" sz="1600" dirty="0"/>
              <a:t>@</a:t>
            </a:r>
            <a:r>
              <a:rPr lang="zh-CN" altLang="en-US" sz="1600" dirty="0"/>
              <a:t>用于进行两个矩阵乘法运算</a:t>
            </a:r>
            <a:endParaRPr lang="en-US" altLang="zh-CN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Helvetica Neue"/>
              </a:rPr>
              <a:t>torch.matmul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对进行点乘运算的两矩阵形状没有限定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，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对数输入的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shape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不同的张量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对应的最后几个维度必须符合矩阵运算规则</a:t>
            </a:r>
            <a:endParaRPr lang="zh-CN" altLang="en-US" sz="16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张量运算函数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148" y="2444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50580" y="1533698"/>
            <a:ext cx="6298881" cy="25146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掌握张量相关的运算函数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111432" y="2044931"/>
            <a:ext cx="9298247" cy="3083779"/>
          </a:xfrm>
        </p:spPr>
        <p:txBody>
          <a:bodyPr/>
          <a:lstStyle/>
          <a:p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PyTorch 为每个张量封装很多实用的计算函数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均值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平方根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求和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指数计算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对数计算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等等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495042"/>
            <a:ext cx="6328903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=torch.float64)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tensor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必须为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或者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Double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按列计算均值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按行计算均值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计算总和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，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75503" y="312589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tensor([[4., 0., 7.],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[6., 3., 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tensor(4.1667,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tensor([5.0000, 1.5000, 6.0000],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tensor([3.6667, 4.6667],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tensor(25.,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tensor([10.,  3., 12.],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tensor([11., 14.],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tensor([[16.,  0., 49.],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[36.,  9., 25.]],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857432"/>
            <a:ext cx="6328903" cy="317009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data.sqrt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指数计算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e^n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次方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data.exp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6.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对数计算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print(data.log())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以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为底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print(data.log2())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print(data.log10())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75503" y="1857432"/>
            <a:ext cx="51164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tensor([[2.0000, 0.0000, 2.6458],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[2.4495, 1.7321, 2.2361]],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tensor([[5.4598e+01, 1.0000e+00, 1.0966e+03],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[4.0343e+02, 2.0086e+01, 1.4841e+02]],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tensor([[1.3863,   -inf, 1.9459],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[1.7918, 1.0986, 1.6094]],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tensor([[2.0000,   -inf, 2.8074],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[2.5850, 1.5850, 2.3219]],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tensor([[0.6021,   -inf, 0.8451],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[0.7782, 0.4771, 0.6990]],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55126" y="1562792"/>
            <a:ext cx="7536873" cy="2975957"/>
          </a:xfrm>
        </p:spPr>
        <p:txBody>
          <a:bodyPr/>
          <a:lstStyle/>
          <a:p>
            <a:r>
              <a:rPr lang="zh-CN" altLang="en-US" sz="1600" dirty="0"/>
              <a:t>张量运算函数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 </a:t>
            </a:r>
            <a:r>
              <a:rPr lang="en-US" altLang="zh-CN" sz="1600" dirty="0"/>
              <a:t>s</a:t>
            </a:r>
            <a:r>
              <a:rPr lang="en-US" altLang="zh-CN" sz="1600" dirty="0" err="1"/>
              <a:t>um,mean,sqrt,pow,exp,log</a:t>
            </a:r>
            <a:r>
              <a:rPr lang="zh-CN" altLang="en-US" sz="1600" dirty="0"/>
              <a:t>等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张量索引操作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148" y="30187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掌握简单行列索引的使用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掌握列表索引的使用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掌握范围索引的使用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知道布尔索引的使用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知道多维索引的使用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229" y="940081"/>
            <a:ext cx="10698800" cy="517190"/>
          </a:xfrm>
        </p:spPr>
        <p:txBody>
          <a:bodyPr/>
          <a:lstStyle/>
          <a:p>
            <a:r>
              <a:rPr lang="zh-CN" altLang="en-US" dirty="0"/>
              <a:t>索引操作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45965" y="4763271"/>
            <a:ext cx="49387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7, 6, 5,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8, 3, 1, 0],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3, 8, 7,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9, 5, 3, 1]])</a:t>
            </a:r>
            <a:endParaRPr lang="en-US" altLang="zh-CN" sz="1600" dirty="0">
              <a:ea typeface="阿里巴巴普惠体" panose="00020600040101010101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02229" y="1457169"/>
            <a:ext cx="831088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我们在操作张量时，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经常需要去获取某些元素就进行处理或者修改操作，</a:t>
            </a:r>
            <a:endParaRPr lang="zh-CN" altLang="en-US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在这里我们需要了解在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中的索引操作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准备数据：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6600" y="3223301"/>
            <a:ext cx="6328903" cy="13531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随机生成数据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[4,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简单行、列索引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68736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6600" y="3166867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tensor([0, 7, 6, 5, 9])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tensor([0, 6, 6, 4])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列表索引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1045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(0, 1)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(1, 2)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两个位置的元素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print(data[[0, 1], [1, 2]])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列共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个元素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print(data[[[0], [1]], [1, 2]])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tensor([7,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tensor([[7, 6],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[8, 3]])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范围索引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print(data[:3, :2])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行到最后的前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print(data[2:, :2])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tensor([[6,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布尔索引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第三列大于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的行数据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print(data[data[:, 2] &gt;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第二行大于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的列数据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data[1] &gt;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7, 6, 5,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3, 8, 7, 3]])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tensor([[0,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[6,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[4, 9]])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多维索引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print(data[0, :, :])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0, :])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:, 0])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39783" y="1523501"/>
            <a:ext cx="493877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[5, 5, 1, 5, 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[1, 4, 5, 3, 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[7, 1, 1, 9, 9]],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[[9, 7, 5, 3,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[8, 8, 6, 0,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[6, 9, 0, 2,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[9, 7, 0, 4, 0]],</a:t>
            </a:r>
            <a:endParaRPr lang="en-US" altLang="zh-CN" sz="1400" dirty="0">
              <a:ea typeface="阿里巴巴普惠体" panose="00020600040101010101"/>
            </a:endParaRP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[[0, 7, 3, 5, 6],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[2, 4, 6, 4,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[2, 0, 3, 7, 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 [9, 6, 4, 4, 4]]])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[5, 5, 1, 5, 0],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[1, 4, 5, 3, 8],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[7, 1, 1, 9, 9]])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[9, 7, 5, 3, 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[0, 7, 3, 5, 6]])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tensor([[2, 5, 1, 7],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[9, 8, 6, 9],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[0, 2, 2, 9]])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简单行列索引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列表索引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范围索引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布尔索引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多维索引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张量形状操作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674" y="39511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reshape()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squeze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unsqueeze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transpose()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permute()</a:t>
            </a:r>
            <a:r>
              <a:rPr lang="zh-CN" altLang="en-US" dirty="0">
                <a:solidFill>
                  <a:schemeClr val="tx1"/>
                </a:solidFill>
              </a:rPr>
              <a:t>等函数使用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reshape()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reshape 函数可以在保证张量数据不变的前提下改变数据的维度，将其转换成指定的形状。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359003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([[10, 20, 30], [40, 50, 60]])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属性或者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方法都可以获得张量的形状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[1])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reshape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函数修改张量形状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data.reshape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(1, 6)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96329" y="3620886"/>
            <a:ext cx="4938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6])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squeeze()</a:t>
            </a:r>
            <a:r>
              <a:rPr lang="zh-CN" altLang="en-US" dirty="0"/>
              <a:t>和</a:t>
            </a:r>
            <a:r>
              <a:rPr lang="en-US" altLang="zh-CN" dirty="0" err="1"/>
              <a:t>unsqueeze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squeeze 函数删除形状为 1 的维度（降维），unsqueeze 函数添加形状为1的维度（升维）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72473"/>
            <a:ext cx="6328903" cy="372409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mydata1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3, 4, 5])             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print('mydata1---&gt;', mydata1.shape, mydata1)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一个普通的数组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维数据</a:t>
            </a:r>
            <a:endParaRPr lang="zh-CN" altLang="en-US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mydata1.unsqueeze(dim=0)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mydata2, mydata2.shape)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mydata1.unsqueeze(dim=1)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mydata3, mydata3.shape)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#5*1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mydata1.unsqueeze(dim=-1)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-1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mydata4, mydata4.shape)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5*1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mydata4.squeeze()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压缩维度：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mydata5, mydata5.shape)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75503" y="182634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mydata1---&gt;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 tensor([1, 2, 3, 4,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0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tensor([[1, 2, 3, 4, 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-1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zh-CN" altLang="en-US" sz="1400" dirty="0">
                <a:ea typeface="阿里巴巴普惠体" panose="00020600040101010101"/>
              </a:rPr>
              <a:t>压缩维度： </a:t>
            </a:r>
            <a:r>
              <a:rPr lang="en-US" altLang="zh-CN" sz="1400" dirty="0">
                <a:ea typeface="阿里巴巴普惠体" panose="00020600040101010101"/>
              </a:rPr>
              <a:t>tensor([1, 2, 3, 4, 5])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transpose()</a:t>
            </a:r>
            <a:r>
              <a:rPr lang="zh-CN" altLang="en-US" dirty="0"/>
              <a:t>和</a:t>
            </a:r>
            <a:r>
              <a:rPr lang="en-US" altLang="zh-CN" dirty="0"/>
              <a:t>permute()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transpose 函数可以实现交换张量形状的指定维度, 例如: 一个张量的形状为 (2, 3, 4) 可以通过 transpose 函数把 3 和 4 进行交换, 将张量的形状变为 (2, 4, 3) 。 permute 函数可以一次交换更多的维度。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97129"/>
            <a:ext cx="5517039" cy="458587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np.random.randint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print('data shape:',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交换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1, 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print('mydata2.shape---&gt;', mydata2.shape)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3),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需要变换多次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0, 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(mydata3, 1, 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print('mydata4.shape---&gt;', mydata4.shape)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permute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函数将形状修改为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[1, 2, 0])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print('mydata5.shape---&gt;', mydata5.shape)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mydata6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0])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print('mydata6.shape---&gt;', mydata6.shape)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9783" y="4390064"/>
            <a:ext cx="49387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data shape: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4, 5])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mydata2.shape---&gt;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5, 4])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mydata4.shape---&gt;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mydata5.shape---&gt;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mydata6.shape---&gt;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  <a:endParaRPr lang="en-US" altLang="zh-CN" sz="14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54343" y="2244725"/>
            <a:ext cx="7924800" cy="236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0" lvl="0" indent="0">
              <a:buFontTx/>
              <a:buAutoNum type="arabicPeriod"/>
            </a:pPr>
            <a:r>
              <a:rPr lang="zh-CN" altLang="zh-CN" sz="1600" dirty="0"/>
              <a:t>reshape 函数可以在保证张量数据不变的前提下改变数据的维度</a:t>
            </a:r>
            <a:endParaRPr lang="zh-CN" altLang="zh-CN" sz="1600" dirty="0"/>
          </a:p>
          <a:p>
            <a:pPr marL="0" lvl="0" indent="0">
              <a:buFontTx/>
              <a:buAutoNum type="arabicPeriod" startAt="2"/>
            </a:pPr>
            <a:r>
              <a:rPr lang="zh-CN" altLang="zh-CN" sz="1600" dirty="0"/>
              <a:t>squeeze 和 unsqueeze 函数可以用来增加或者减少维度</a:t>
            </a:r>
            <a:endParaRPr lang="zh-CN" altLang="zh-CN" sz="1600" dirty="0"/>
          </a:p>
          <a:p>
            <a:pPr marL="0" lvl="0" indent="0">
              <a:buFontTx/>
              <a:buAutoNum type="arabicPeriod" startAt="3"/>
            </a:pPr>
            <a:r>
              <a:rPr lang="zh-CN" altLang="zh-CN" sz="1600" dirty="0"/>
              <a:t>transpose 函数可以实现交换张量形状的指定维度, permute 可以一次交换更多的维度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张量拼接操作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609" y="4476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torch.cat()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torch.stack()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torch.cat()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torch.cat()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函数可以将多个张量根据指定的维度拼接起来，不改变维度数。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487312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dim=0)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  <a:endParaRPr lang="zh-CN" altLang="en-US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4,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tensor([[[7, 8, 7, 3, 6, 5],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[6, 3, 6, 7, 5, 0]]])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2, 6])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torch.stack()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1141075" cy="5201285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torch.stack()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</a:t>
            </a:r>
            <a:r>
              <a:rPr lang="zh-CN" altLang="en-US"/>
              <a:t>会在一个新的维度上连接一系列张量，这会增加一个新维度，并且所有输入张量的形状必须完全相同。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6760" y="1944370"/>
            <a:ext cx="6329045" cy="46678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torch.randint(0, 10, [2,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torch.randint(0, 10, [2, 3])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在0维度上拼接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dim=0)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在1维度上拼接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dim=1)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在2维度上拼接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dim=2)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6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[9, 8, 3]],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[9, 2, 8]],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8, 3],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tensor([[[6, 9],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[2, 2],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[8, 8]],</a:t>
            </a:r>
            <a:endParaRPr lang="en-US" altLang="zh-CN" sz="1600" dirty="0">
              <a:ea typeface="阿里巴巴普惠体" panose="00020600040101010101"/>
            </a:endParaRP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0],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[8, 7],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 [3, 9]]])</a:t>
            </a:r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torch.Size([2, 3, 2])</a:t>
            </a:r>
            <a:endParaRPr lang="en-US" altLang="zh-CN" sz="1600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842629"/>
            <a:ext cx="7731240" cy="5172741"/>
          </a:xfrm>
        </p:spPr>
        <p:txBody>
          <a:bodyPr/>
          <a:lstStyle/>
          <a:p>
            <a:r>
              <a:rPr lang="en-US" altLang="zh-CN" sz="1600" dirty="0"/>
              <a:t>cat()</a:t>
            </a:r>
            <a:r>
              <a:rPr lang="zh-CN" altLang="en-US" sz="1600" dirty="0"/>
              <a:t>函数可以将张量按照指定的维度拼接起来</a:t>
            </a:r>
            <a:endParaRPr lang="zh-CN" altLang="en-US" sz="1600" dirty="0"/>
          </a:p>
          <a:p>
            <a:r>
              <a:rPr lang="en-US" altLang="zh-CN" sz="1600" dirty="0"/>
              <a:t>stack</a:t>
            </a:r>
            <a:r>
              <a:rPr lang="zh-CN" altLang="en-US" sz="1600" dirty="0"/>
              <a:t>函数可以将张量在新维度上拼接起来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自动微分模块</a:t>
            </a:r>
            <a:endParaRPr kumimoji="1" lang="zh-CN" altLang="en-US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4799" y="50349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掌握自动微分模块的使用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训练神经网络时，最常用的算法就是反向传播。在该算法中，参数（模型权重）会根据损失函数关于对应参数的梯度进行调整。为了计算这些梯度，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内置了名为 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torch.autograd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的微分模块。它支持任意计算图的自动梯度计算：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接下来我们使用这个结构进行自动微分模块的介绍。我们使用 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backward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方法、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grad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属性来实现梯度的计算和访问</a:t>
            </a:r>
            <a:r>
              <a:rPr lang="en-US" altLang="zh-CN" sz="2000" b="0" i="0" dirty="0">
                <a:effectLst/>
                <a:latin typeface="Roboto" panose="02000000000000000000" pitchFamily="2" charset="0"/>
              </a:rPr>
              <a:t>.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0" y="2342981"/>
            <a:ext cx="7912100" cy="269198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8085" y="2120265"/>
            <a:ext cx="7619365" cy="2280920"/>
          </a:xfrm>
          <a:prstGeom prst="rect">
            <a:avLst/>
          </a:prstGeom>
        </p:spPr>
        <p:txBody>
          <a:bodyPr>
            <a:noAutofit/>
          </a:bodyPr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PyTorch不支持向量张量对向量张量的求导,只支持标量张量对向量张量的求导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p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x如果是张量,y必须是标量(一个值)才可以进行求导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计算梯度: y.backward(),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y是一个标量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获取x点的梯度值: x.grad,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会累加上一次的梯度值</a:t>
            </a:r>
            <a:endParaRPr lang="en-US" altLang="zh-CN" sz="1600" b="0" i="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570355"/>
            <a:ext cx="6329045" cy="50876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定义一个标量张量(点)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requires_grad=:默认为False,不会自动计算梯度;为True的话是将自动计算的梯度值保存到grad中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print("x--&gt;", x)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查看梯度函数类型,即曲线函数类型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print(y.grad_fn)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计算x点的梯度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此时y是一个标量,可以不用使用y.sum()转换成标量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print("y.sum()--&gt;", y.sum())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y'|(x=10) = (2*x**2)'|(x=10) = 4x|(x=10) = 40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打印x的梯度值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x.grad)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x--&gt; tensor(10., requires_grad=True)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tensor(200., grad_fn=&lt;MulBackward0&gt;)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&lt;MulBackward0 object at 0x000002504B2CBFA0&gt;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y.sum()--&gt; tensor(200., grad_fn=&lt;SumBackward0&gt;)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 tensor(40.)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407160"/>
            <a:ext cx="6329045" cy="41859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定义一个向量张量(点)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torch.tensor([10, 20],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print("x--&gt;", x)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计算梯度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x和y都是向量张量,不能进行求导,需要将y转换成标量张量--&gt;y.sum()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y'|(x=10) = (2*x**2)'|(x=10) = 4x|(x=10) = 40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y'|(x=20) = (2*x**2)'|(x=20) = 4x|(x=20) = 80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打印x的梯度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print("x.grad--&gt;", x.grad)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x--&gt; tensor([10., 20.], requires_grad=True)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tensor([200., 800.], grad_fn=&lt;MulBackward0&gt;)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x.grad--&gt; tensor([40., 80.])</a:t>
            </a:r>
            <a:endParaRPr lang="en-US" altLang="zh-CN" sz="14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梯度下降法求最优解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760" y="1578610"/>
            <a:ext cx="6581140" cy="1124585"/>
          </a:xfrm>
          <a:prstGeom prst="rect">
            <a:avLst/>
          </a:prstGeom>
        </p:spPr>
        <p:txBody>
          <a:bodyPr wrap="square">
            <a:spAutoFit/>
          </a:bodyPr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梯度下降法公式: w = w - r*grad (r是学习率, grad是梯度值)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清空上一次的梯度值: x.grad.zero_()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3125" y="3046730"/>
            <a:ext cx="6329045" cy="24796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求 y = x**2 + 20 的极小值点 并打印y是最小值时 w的值(梯度)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定义点 x=10 requires_grad=True  dtype=torch.float32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x**2 + 20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 求最优解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3-1 正向计算(前向传播)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3-2 梯度清零 x.grad.zero_()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3-3 反向传播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3-4 梯度更新 x.data = x.data - 0.01 * x.grad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梯度下降法求最优解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407160"/>
            <a:ext cx="7211695" cy="576707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定义点x=10 requires_grad=True  dtype=torch.float32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 ** 2 + 20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x ** 2 + 20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:%.6f (0.01 * x.grad):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y:%.6f' % (x, y))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 求最优解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for i in range(1, 1001):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3-1 正向计算(前向传播)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 = x ** 2 + 20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3-2 梯度清零 x.grad.zero_()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默认张量的 grad 属性会累加历史梯度值 需手工清零上一次的提取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一开始梯度不存在, 需要做判断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if x.grad is not None: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    x.grad.zero_()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3-3 反向传播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3-4 梯度更新 x.data = x.data - 0.01 * x.grad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x.data是修改原始x内存中的数据,前后x的内存空间一样;如果使用x,此时修改前后x的内存空间不同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x.data = x.data - 0.01 * x.grad 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注：不能 x = x - 0.01 * x.grad 这样写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:%d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%.6f, (0.01 * x.grad):%.6f y:%.6f' % (i, x, 0.01 * x.grad, y))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x, x.grad, 'y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78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:10.000000 (0.01 * x.grad):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y:120.000000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9.800000, (0.01 * x.grad):0.200000 y:120.000000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:2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9.604000, (0.01 * x.grad):0.196000 y:116.040001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...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:999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0.000000, (0.01 * x.grad):0.000000 y:20.000000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:1000 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0.000000, (0.01 * x.grad):0.000000 y:20.000000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tensor(1.6830e-08, requires_grad=True) tensor(3.4346e-08) y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tensor(20., grad_fn=&lt;AddBackward0&gt;)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梯度计算注意点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898650"/>
            <a:ext cx="7211695" cy="5095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定义一个张量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x1 = torch.tensor([10, 20], requires_grad=True, dtype=torch.float64)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将x张量转换成numpy数组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发生报错,RuntimeError: Can't call numpy() on Tensor that requires grad. Use tensor.detach().numpy() instead.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不能将自动微分的张量转换成numpy数组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print(x1.numpy())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通过detach()方法产生一个新的张量,作为叶子结点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x2 = x1.detach()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x1和x2张量共享数据,但是x2不会自动微分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print(x1.requires_grad)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print(x2.requires_grad)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x1和x2张量的值一样,共用一份内存空间的数据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print(x1.data)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print(x2.data)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print(id(x1.data))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print(id(x2.data))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将x2张量转换成numpy数组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print(x2.numpy())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True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False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[10. 20.]</a:t>
            </a:r>
            <a:endParaRPr lang="en-US" altLang="zh-CN" sz="1200" dirty="0">
              <a:solidFill>
                <a:schemeClr val="tx1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760" y="1457325"/>
            <a:ext cx="81140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不能将自动微分的张量转换成</a:t>
            </a:r>
            <a:r>
              <a:rPr lang="en-US" altLang="zh-CN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numpy</a:t>
            </a:r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数组，会发生报错，可以通过</a:t>
            </a:r>
            <a:r>
              <a:rPr lang="en-US" altLang="zh-CN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detach()</a:t>
            </a:r>
            <a:r>
              <a:rPr lang="zh-CN" altLang="en-US" sz="1600" b="0" i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方法实现</a:t>
            </a:r>
            <a:endParaRPr lang="zh-CN" altLang="en-US" sz="1600" b="0" i="0">
              <a:solidFill>
                <a:srgbClr val="333333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自动微分模块应用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7023" y="1547582"/>
            <a:ext cx="6328903" cy="55391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输入张量 2*5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torch.ones(2, 5)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目标值是 2*3    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torch.zeros(2, 3)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设置要更新的权重和偏置的初始值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w = torch.randn(5, 3, requires_grad=True)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b = torch.randn(3, requires_grad=True)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设置网络的输出值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z = torch.matmul(x, w) + b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矩阵乘法</a:t>
            </a:r>
            <a:endParaRPr lang="zh-CN" altLang="en-US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设置损失函数，并进行损失的计算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torch.nn.MSELoss()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loss(z, y)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自动微分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loss.backward()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 w,b 变量的梯度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backward 函数计算的梯度值会存储在张量的 grad 变量中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print("W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w.grad)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print("b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", b.grad)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64733" y="4385066"/>
            <a:ext cx="5116497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  <a:endParaRPr lang="en-US" altLang="zh-CN" sz="1400" dirty="0">
              <a:solidFill>
                <a:srgbClr val="FF0000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W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: tensor([[-0.7145,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0.9764]])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b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tensor([-0.7145, -0.0328,  0.9764])</a:t>
            </a:r>
            <a:endParaRPr lang="en-US" altLang="zh-CN" sz="1400" dirty="0">
              <a:solidFill>
                <a:schemeClr val="tx1"/>
              </a:solidFill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120" y="2570183"/>
            <a:ext cx="6313460" cy="171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本小节主要讲解了 PyTorch 中非常重要的自动微分模块的使用和理解。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我们对需要计算梯度的张量需要设置 requires_grad=True 属性。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案例</a:t>
            </a:r>
            <a:r>
              <a:rPr kumimoji="1" lang="en-US" altLang="zh-CN" sz="1600" dirty="0">
                <a:solidFill>
                  <a:srgbClr val="C00000"/>
                </a:solidFill>
                <a:sym typeface="+mn-ea"/>
              </a:rPr>
              <a:t>-</a:t>
            </a:r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线性回归案例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8188" y="55259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构建线性回归模型相关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46600" y="2008601"/>
            <a:ext cx="10698800" cy="51719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我们使用 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en-GB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的各个组件来构建线性回归的实现。在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中进行模型构建的整个流程一般分为四个步骤：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准备训练集数据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构建要使用的模型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设置损失函数和优化器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  <a:endParaRPr lang="zh-CN" altLang="en-US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08601"/>
            <a:ext cx="41402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要使用的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818516"/>
            <a:ext cx="10698800" cy="259544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nn.MSELoss()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平方损失函数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data.DataLoader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数据加载器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optim.SGD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优化器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nn.Linear 代替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假设函数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导入工具包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22577" y="1974461"/>
            <a:ext cx="6826052" cy="348813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导入相关模块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torch.utils.data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TensorDataset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torch.utils.data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数据加载器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torch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模块中有平方损失函数和假设函数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torch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optim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模块中有优化器函数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sklearn.datasets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make_regression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创建线性回归模型数据集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matplotlib.pyplot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plt.rcParams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font.sans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-serif'] = 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SimHei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']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用来正常显示中文标签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plt.rcParams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axes.unicode_minus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'] = False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用来正常显示负号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数据集构建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4597" y="1793713"/>
            <a:ext cx="6826052" cy="39998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make_regression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n_samples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=100,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noise=10,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bias=14.5,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         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random_state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将构建数据转换为张量类型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return 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构建数据集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9067" y="1684933"/>
            <a:ext cx="5232721" cy="3384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if __name__ == "__main__":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92D050"/>
                </a:solidFill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生成的数据 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x,y,coef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绘制数据的真实的线性回归结果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x.min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x.max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1000)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y1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.5 for v in x])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y1, label='real’)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4254" y="1974461"/>
            <a:ext cx="3565425" cy="270628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dataloader</a:t>
            </a:r>
            <a:r>
              <a:rPr lang="zh-CN" altLang="en-US" dirty="0"/>
              <a:t>构建数据加载器并进行模型构建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01796" y="1793713"/>
            <a:ext cx="7438821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dataset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TensorDataset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构造数据加载器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dataset=: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数据集对象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批量训练样本数据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shuffle=: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样本数据是否进行乱序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(dataset=dataset,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=16, shuffle=True)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构造模型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指的是输入张量的大小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指的是输出张量的大小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model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设置损失函数和优化器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4129" y="2032211"/>
            <a:ext cx="8640261" cy="163121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构造平方损失函数</a:t>
            </a:r>
            <a:endParaRPr lang="zh-CN" altLang="en-US" sz="20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criterion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nn.MSELoss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构造优化函数</a:t>
            </a:r>
            <a:endParaRPr lang="zh-CN" altLang="en-US" sz="20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optim.SGD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(params=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model.parameters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lr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=1e-2)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模型训练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60256" y="1457271"/>
            <a:ext cx="8175668" cy="483108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epochs = 100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dirty="0">
                <a:latin typeface="Roboto Mono" pitchFamily="49" charset="0"/>
              </a:rPr>
              <a:t>   </a:t>
            </a:r>
            <a:r>
              <a:rPr lang="en-US" altLang="zh-CN" sz="1400" dirty="0">
                <a:latin typeface="Roboto Mono" pitchFamily="49" charset="0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损失的变化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 </a:t>
            </a:r>
            <a:r>
              <a:rPr lang="en-US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epoch_loss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[]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=0.0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=0.0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for _ in range(epochs):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for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in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将一个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的训练数据送入模型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model(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train_x.type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(torch.float32))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计算损失值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均方误差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当前批次所有样本的平均误差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 = criterion(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train_y.reshape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(-1, 1).type(torch.float32))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GB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	</a:t>
            </a:r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</a:t>
            </a:r>
            <a:r>
              <a:rPr lang="en-US" altLang="zh-CN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loss.item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1" indent="457200"/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loss是平均误差,所以样本数+1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梯度清零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optimizer.zero_grad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自动微分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反向传播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loss.backward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更新参数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optimizer.step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计算所有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的平均误差作为当前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epoch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的误差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zh-CN" altLang="en-US" sz="1400" b="0" i="0" dirty="0">
                <a:solidFill>
                  <a:srgbClr val="36464E"/>
                </a:solidFill>
                <a:effectLst/>
                <a:latin typeface="Roboto Mono" pitchFamily="49" charset="0"/>
              </a:rPr>
              <a:t>      </a:t>
            </a:r>
            <a:r>
              <a:rPr lang="zh-CN" altLang="en-US" sz="1400" dirty="0">
                <a:solidFill>
                  <a:srgbClr val="36464E"/>
                </a:solidFill>
                <a:latin typeface="Roboto Mono" pitchFamily="49" charset="0"/>
              </a:rPr>
              <a:t> </a:t>
            </a:r>
            <a:r>
              <a:rPr lang="en-US" altLang="zh-CN" sz="1400" dirty="0">
                <a:solidFill>
                  <a:srgbClr val="36464E"/>
                </a:solidFill>
                <a:latin typeface="Roboto Mono" pitchFamily="49" charset="0"/>
              </a:rPr>
              <a:t>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epoch_loss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.append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/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train_sample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构建训练模型函数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6295" y="1457271"/>
            <a:ext cx="6009516" cy="46158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绘制损失变化曲线 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(range(epochs),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plt.title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损失变化曲线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'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endParaRPr lang="en-GB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绘制拟合直线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x.min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x.max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1000)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model.bias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for v 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+ 14.5 for v 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y1,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训练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y2,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真实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090" y="1062990"/>
            <a:ext cx="3899535" cy="29521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25" y="4015105"/>
            <a:ext cx="3555365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095" y="1620203"/>
            <a:ext cx="3770630" cy="361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lvl="0" indent="0" algn="l">
              <a:buFontTx/>
              <a:buNone/>
            </a:pPr>
            <a:endParaRPr lang="zh-CN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y</a:t>
            </a: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orch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模型构建的流程为</a:t>
            </a: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</a:t>
            </a:r>
            <a:endParaRPr lang="en-US" altLang="zh-CN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准备训练集数据</a:t>
            </a:r>
            <a:endParaRPr lang="zh-CN" altLang="en-US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构建要使用的模型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设置损失函数和优化器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23699</Words>
  <Application>WPS 演示</Application>
  <PresentationFormat>宽屏</PresentationFormat>
  <Paragraphs>1339</Paragraphs>
  <Slides>91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91</vt:i4>
      </vt:variant>
    </vt:vector>
  </HeadingPairs>
  <TitlesOfParts>
    <vt:vector size="128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Helvetica Neue</vt:lpstr>
      <vt:lpstr>Wingdings</vt:lpstr>
      <vt:lpstr>阿里巴巴普惠体 2.0 45 Light</vt:lpstr>
      <vt:lpstr>Alibaba PuHuiTi</vt:lpstr>
      <vt:lpstr>阿里巴巴普惠体</vt:lpstr>
      <vt:lpstr>Arial Unicode MS</vt:lpstr>
      <vt:lpstr>等线</vt:lpstr>
      <vt:lpstr>Roboto</vt:lpstr>
      <vt:lpstr>阿里巴巴普惠体 2.0 105 Heavy</vt:lpstr>
      <vt:lpstr>Open Sans</vt:lpstr>
      <vt:lpstr>Roboto Mono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PyTorch框架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Rocky Chen</cp:lastModifiedBy>
  <cp:revision>2055</cp:revision>
  <dcterms:created xsi:type="dcterms:W3CDTF">2022-09-27T09:38:00Z</dcterms:created>
  <dcterms:modified xsi:type="dcterms:W3CDTF">2025-10-12T23:17:59Z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2052-12.1.0.22529</vt:lpwstr>
  </property>
  <property fmtid="{D5CDD505-2E9C-101B-9397-08002B2CF9AE}" pid="4" name="commondata">
    <vt:lpwstr>eyJoZGlkIjoiMDAzZmIwZjU2YjM3ZmIyZjYxNWQ1NTViMjdhYzBlM2EifQ==</vt:lpwstr>
  </property>
</Properties>
</file>